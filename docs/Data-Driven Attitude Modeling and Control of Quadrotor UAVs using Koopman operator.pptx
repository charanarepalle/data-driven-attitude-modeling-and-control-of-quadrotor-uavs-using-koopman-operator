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C276DB-1352-48F7-8607-9CD8F8416D6D}" v="3" dt="2026-08-19T02:54:23.60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4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EPALLY CHARAN KUMAR REDDY" userId="11455137d8a8f19c" providerId="LiveId" clId="{D412DB1F-D518-415E-84D7-DA5ABF10D3A9}"/>
    <pc:docChg chg="undo custSel modSld">
      <pc:chgData name="AREPALLY CHARAN KUMAR REDDY" userId="11455137d8a8f19c" providerId="LiveId" clId="{D412DB1F-D518-415E-84D7-DA5ABF10D3A9}" dt="2026-08-19T03:12:03.260" v="229" actId="1076"/>
      <pc:docMkLst>
        <pc:docMk/>
      </pc:docMkLst>
      <pc:sldChg chg="modSp mod">
        <pc:chgData name="AREPALLY CHARAN KUMAR REDDY" userId="11455137d8a8f19c" providerId="LiveId" clId="{D412DB1F-D518-415E-84D7-DA5ABF10D3A9}" dt="2026-08-18T18:36:46.246" v="7" actId="20577"/>
        <pc:sldMkLst>
          <pc:docMk/>
          <pc:sldMk cId="3182266466" sldId="256"/>
        </pc:sldMkLst>
        <pc:spChg chg="mod">
          <ac:chgData name="AREPALLY CHARAN KUMAR REDDY" userId="11455137d8a8f19c" providerId="LiveId" clId="{D412DB1F-D518-415E-84D7-DA5ABF10D3A9}" dt="2026-08-18T18:36:23.418" v="5" actId="313"/>
          <ac:spMkLst>
            <pc:docMk/>
            <pc:sldMk cId="3182266466" sldId="256"/>
            <ac:spMk id="2" creationId="{AB3B20C1-70A8-B4BC-F8DC-39919A3DC64F}"/>
          </ac:spMkLst>
        </pc:spChg>
        <pc:spChg chg="mod">
          <ac:chgData name="AREPALLY CHARAN KUMAR REDDY" userId="11455137d8a8f19c" providerId="LiveId" clId="{D412DB1F-D518-415E-84D7-DA5ABF10D3A9}" dt="2026-08-18T18:36:46.246" v="7" actId="20577"/>
          <ac:spMkLst>
            <pc:docMk/>
            <pc:sldMk cId="3182266466" sldId="256"/>
            <ac:spMk id="6" creationId="{DB34E6DB-A1E6-35D8-222C-218A0775C73F}"/>
          </ac:spMkLst>
        </pc:spChg>
      </pc:sldChg>
      <pc:sldChg chg="addSp delSp modSp mod">
        <pc:chgData name="AREPALLY CHARAN KUMAR REDDY" userId="11455137d8a8f19c" providerId="LiveId" clId="{D412DB1F-D518-415E-84D7-DA5ABF10D3A9}" dt="2026-08-19T02:56:13.334" v="141" actId="404"/>
        <pc:sldMkLst>
          <pc:docMk/>
          <pc:sldMk cId="3499261696" sldId="268"/>
        </pc:sldMkLst>
        <pc:spChg chg="mod">
          <ac:chgData name="AREPALLY CHARAN KUMAR REDDY" userId="11455137d8a8f19c" providerId="LiveId" clId="{D412DB1F-D518-415E-84D7-DA5ABF10D3A9}" dt="2026-08-19T02:54:54.151" v="72" actId="1076"/>
          <ac:spMkLst>
            <pc:docMk/>
            <pc:sldMk cId="3499261696" sldId="268"/>
            <ac:spMk id="6" creationId="{83CEE31F-1EB9-5238-DCC1-CDC0038AAAF6}"/>
          </ac:spMkLst>
        </pc:spChg>
        <pc:spChg chg="mod">
          <ac:chgData name="AREPALLY CHARAN KUMAR REDDY" userId="11455137d8a8f19c" providerId="LiveId" clId="{D412DB1F-D518-415E-84D7-DA5ABF10D3A9}" dt="2026-08-19T02:56:13.334" v="141" actId="404"/>
          <ac:spMkLst>
            <pc:docMk/>
            <pc:sldMk cId="3499261696" sldId="268"/>
            <ac:spMk id="9" creationId="{E221635A-A1A3-8D1F-0A4F-E3CE4212ED15}"/>
          </ac:spMkLst>
        </pc:spChg>
        <pc:picChg chg="del">
          <ac:chgData name="AREPALLY CHARAN KUMAR REDDY" userId="11455137d8a8f19c" providerId="LiveId" clId="{D412DB1F-D518-415E-84D7-DA5ABF10D3A9}" dt="2026-08-19T02:51:59.110" v="8" actId="478"/>
          <ac:picMkLst>
            <pc:docMk/>
            <pc:sldMk cId="3499261696" sldId="268"/>
            <ac:picMk id="4" creationId="{7B29A0CE-7FDE-4428-BBE2-BC972F16CEBA}"/>
          </ac:picMkLst>
        </pc:picChg>
        <pc:picChg chg="add mod">
          <ac:chgData name="AREPALLY CHARAN KUMAR REDDY" userId="11455137d8a8f19c" providerId="LiveId" clId="{D412DB1F-D518-415E-84D7-DA5ABF10D3A9}" dt="2026-08-19T02:52:11.331" v="14" actId="1076"/>
          <ac:picMkLst>
            <pc:docMk/>
            <pc:sldMk cId="3499261696" sldId="268"/>
            <ac:picMk id="5" creationId="{695C7C54-31EE-0E1C-EE34-7EA0DBF71F58}"/>
          </ac:picMkLst>
        </pc:picChg>
        <pc:picChg chg="del">
          <ac:chgData name="AREPALLY CHARAN KUMAR REDDY" userId="11455137d8a8f19c" providerId="LiveId" clId="{D412DB1F-D518-415E-84D7-DA5ABF10D3A9}" dt="2026-08-19T02:55:06.626" v="73" actId="478"/>
          <ac:picMkLst>
            <pc:docMk/>
            <pc:sldMk cId="3499261696" sldId="268"/>
            <ac:picMk id="8" creationId="{365B1CD8-D833-B2CE-0CBB-17CF0541C49F}"/>
          </ac:picMkLst>
        </pc:picChg>
        <pc:picChg chg="add mod">
          <ac:chgData name="AREPALLY CHARAN KUMAR REDDY" userId="11455137d8a8f19c" providerId="LiveId" clId="{D412DB1F-D518-415E-84D7-DA5ABF10D3A9}" dt="2026-08-19T02:55:21.991" v="80" actId="1076"/>
          <ac:picMkLst>
            <pc:docMk/>
            <pc:sldMk cId="3499261696" sldId="268"/>
            <ac:picMk id="10" creationId="{20B7A60B-857A-A7A2-F124-80B93FAD3388}"/>
          </ac:picMkLst>
        </pc:picChg>
      </pc:sldChg>
      <pc:sldChg chg="addSp delSp modSp mod">
        <pc:chgData name="AREPALLY CHARAN KUMAR REDDY" userId="11455137d8a8f19c" providerId="LiveId" clId="{D412DB1F-D518-415E-84D7-DA5ABF10D3A9}" dt="2026-08-19T03:12:03.260" v="229" actId="1076"/>
        <pc:sldMkLst>
          <pc:docMk/>
          <pc:sldMk cId="3979592486" sldId="269"/>
        </pc:sldMkLst>
        <pc:spChg chg="mod">
          <ac:chgData name="AREPALLY CHARAN KUMAR REDDY" userId="11455137d8a8f19c" providerId="LiveId" clId="{D412DB1F-D518-415E-84D7-DA5ABF10D3A9}" dt="2026-08-19T03:12:03.260" v="229" actId="1076"/>
          <ac:spMkLst>
            <pc:docMk/>
            <pc:sldMk cId="3979592486" sldId="269"/>
            <ac:spMk id="4" creationId="{1A984F56-231A-033C-68CA-D87C235BDE9C}"/>
          </ac:spMkLst>
        </pc:spChg>
        <pc:spChg chg="del">
          <ac:chgData name="AREPALLY CHARAN KUMAR REDDY" userId="11455137d8a8f19c" providerId="LiveId" clId="{D412DB1F-D518-415E-84D7-DA5ABF10D3A9}" dt="2026-08-19T02:57:05.468" v="149" actId="478"/>
          <ac:spMkLst>
            <pc:docMk/>
            <pc:sldMk cId="3979592486" sldId="269"/>
            <ac:spMk id="7" creationId="{83C2A48F-3B5A-7141-A8F8-71FD2C30A7F0}"/>
          </ac:spMkLst>
        </pc:spChg>
        <pc:picChg chg="del">
          <ac:chgData name="AREPALLY CHARAN KUMAR REDDY" userId="11455137d8a8f19c" providerId="LiveId" clId="{D412DB1F-D518-415E-84D7-DA5ABF10D3A9}" dt="2026-08-19T02:56:36.994" v="142" actId="478"/>
          <ac:picMkLst>
            <pc:docMk/>
            <pc:sldMk cId="3979592486" sldId="269"/>
            <ac:picMk id="3" creationId="{9DEDF9A9-82D1-D5EA-E112-35F62C62214A}"/>
          </ac:picMkLst>
        </pc:picChg>
        <pc:picChg chg="add mod">
          <ac:chgData name="AREPALLY CHARAN KUMAR REDDY" userId="11455137d8a8f19c" providerId="LiveId" clId="{D412DB1F-D518-415E-84D7-DA5ABF10D3A9}" dt="2026-08-19T03:12:00.317" v="228" actId="1076"/>
          <ac:picMkLst>
            <pc:docMk/>
            <pc:sldMk cId="3979592486" sldId="269"/>
            <ac:picMk id="5" creationId="{3A405F98-7F64-EBDA-0BC1-B0DF188D5B3C}"/>
          </ac:picMkLst>
        </pc:picChg>
        <pc:picChg chg="del">
          <ac:chgData name="AREPALLY CHARAN KUMAR REDDY" userId="11455137d8a8f19c" providerId="LiveId" clId="{D412DB1F-D518-415E-84D7-DA5ABF10D3A9}" dt="2026-08-19T02:56:39.912" v="145" actId="478"/>
          <ac:picMkLst>
            <pc:docMk/>
            <pc:sldMk cId="3979592486" sldId="269"/>
            <ac:picMk id="6" creationId="{9D68F0BF-741F-910F-8D19-D51AA350337E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8/19/2026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8/19/2026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8/19/2026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8/19/2026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8/19/2026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B20C1-70A8-B4BC-F8DC-39919A3DC6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9681" y="1120245"/>
            <a:ext cx="11522319" cy="2027569"/>
          </a:xfrm>
        </p:spPr>
        <p:txBody>
          <a:bodyPr>
            <a:normAutofit/>
          </a:bodyPr>
          <a:lstStyle/>
          <a:p>
            <a:r>
              <a:rPr lang="en-IN" b="1" dirty="0">
                <a:solidFill>
                  <a:srgbClr val="7030A0"/>
                </a:solidFill>
              </a:rPr>
              <a:t>Data-Driven Attitude Modeling and Control of Quadrotor UAV’s using Koopman Operator</a:t>
            </a:r>
          </a:p>
        </p:txBody>
      </p:sp>
      <p:pic>
        <p:nvPicPr>
          <p:cNvPr id="5" name="Picture 4" descr="Amrita Vishwa Vidyapeetham Logo PNG Vector (SVG) Free Download">
            <a:extLst>
              <a:ext uri="{FF2B5EF4-FFF2-40B4-BE49-F238E27FC236}">
                <a16:creationId xmlns:a16="http://schemas.microsoft.com/office/drawing/2014/main" id="{A0385742-4423-92E7-BD5D-470515E9A6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8126" y="26796"/>
            <a:ext cx="4923874" cy="10934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B34E6DB-A1E6-35D8-222C-218A0775C73F}"/>
              </a:ext>
            </a:extLst>
          </p:cNvPr>
          <p:cNvSpPr txBox="1"/>
          <p:nvPr/>
        </p:nvSpPr>
        <p:spPr>
          <a:xfrm>
            <a:off x="1494503" y="3185651"/>
            <a:ext cx="9615948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>
                <a:solidFill>
                  <a:schemeClr val="bg1"/>
                </a:solidFill>
                <a:latin typeface="Century Gothic" panose="020B0502020202020204" pitchFamily="34" charset="0"/>
              </a:rPr>
              <a:t>Team CD-14:</a:t>
            </a:r>
          </a:p>
          <a:p>
            <a:endParaRPr lang="en-US" sz="2800" b="1" u="sng" dirty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r>
              <a:rPr lang="en-US" sz="2800" b="1" dirty="0">
                <a:solidFill>
                  <a:schemeClr val="bg1"/>
                </a:solidFill>
                <a:latin typeface="Century Gothic" panose="020B0502020202020204" pitchFamily="34" charset="0"/>
              </a:rPr>
              <a:t>1. Arepalle Charan Kumar Reddy (207)</a:t>
            </a:r>
          </a:p>
          <a:p>
            <a:r>
              <a:rPr lang="en-IN" sz="2800" b="1" dirty="0">
                <a:solidFill>
                  <a:schemeClr val="bg1"/>
                </a:solidFill>
                <a:latin typeface="Century Gothic" panose="020B0502020202020204" pitchFamily="34" charset="0"/>
              </a:rPr>
              <a:t>2. </a:t>
            </a:r>
            <a:r>
              <a:rPr lang="en-IN" sz="2800" b="1" dirty="0" err="1">
                <a:solidFill>
                  <a:schemeClr val="bg1"/>
                </a:solidFill>
                <a:latin typeface="Century Gothic" panose="020B0502020202020204" pitchFamily="34" charset="0"/>
              </a:rPr>
              <a:t>Polturi</a:t>
            </a:r>
            <a:r>
              <a:rPr lang="en-IN" sz="2800" b="1" dirty="0">
                <a:solidFill>
                  <a:schemeClr val="bg1"/>
                </a:solidFill>
                <a:latin typeface="Century Gothic" panose="020B0502020202020204" pitchFamily="34" charset="0"/>
              </a:rPr>
              <a:t> Aditya Pavan (344)</a:t>
            </a:r>
          </a:p>
          <a:p>
            <a:r>
              <a:rPr lang="en-IN" sz="2800" b="1" dirty="0">
                <a:solidFill>
                  <a:schemeClr val="bg1"/>
                </a:solidFill>
                <a:latin typeface="Century Gothic" panose="020B0502020202020204" pitchFamily="34" charset="0"/>
              </a:rPr>
              <a:t>3. Koushik V (330)</a:t>
            </a:r>
          </a:p>
          <a:p>
            <a:r>
              <a:rPr lang="en-IN" sz="2800" b="1" dirty="0">
                <a:solidFill>
                  <a:schemeClr val="bg1"/>
                </a:solidFill>
                <a:latin typeface="Century Gothic" panose="020B0502020202020204" pitchFamily="34" charset="0"/>
              </a:rPr>
              <a:t>4. Rohit </a:t>
            </a:r>
            <a:r>
              <a:rPr lang="en-IN" sz="2800" b="1" dirty="0" err="1">
                <a:solidFill>
                  <a:schemeClr val="bg1"/>
                </a:solidFill>
                <a:latin typeface="Century Gothic" panose="020B0502020202020204" pitchFamily="34" charset="0"/>
              </a:rPr>
              <a:t>kanna</a:t>
            </a:r>
            <a:r>
              <a:rPr lang="en-IN" sz="2800" b="1" dirty="0">
                <a:solidFill>
                  <a:schemeClr val="bg1"/>
                </a:solidFill>
                <a:latin typeface="Century Gothic" panose="020B0502020202020204" pitchFamily="34" charset="0"/>
              </a:rPr>
              <a:t> S (349)</a:t>
            </a:r>
          </a:p>
          <a:p>
            <a:r>
              <a:rPr lang="en-IN" sz="2800" b="1" dirty="0">
                <a:solidFill>
                  <a:schemeClr val="bg1"/>
                </a:solidFill>
                <a:latin typeface="Century Gothic" panose="020B0502020202020204" pitchFamily="34" charset="0"/>
              </a:rPr>
              <a:t>5. </a:t>
            </a:r>
            <a:r>
              <a:rPr lang="en-IN" sz="2800" b="1" dirty="0" err="1">
                <a:solidFill>
                  <a:schemeClr val="bg1"/>
                </a:solidFill>
                <a:latin typeface="Century Gothic" panose="020B0502020202020204" pitchFamily="34" charset="0"/>
              </a:rPr>
              <a:t>Mahendrada</a:t>
            </a:r>
            <a:r>
              <a:rPr lang="en-IN" sz="2800" b="1" dirty="0">
                <a:solidFill>
                  <a:schemeClr val="bg1"/>
                </a:solidFill>
                <a:latin typeface="Century Gothic" panose="020B0502020202020204" pitchFamily="34" charset="0"/>
              </a:rPr>
              <a:t> Shalini (334)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8040D8-A47D-7E8E-A3F5-51DDD331DE63}"/>
              </a:ext>
            </a:extLst>
          </p:cNvPr>
          <p:cNvSpPr txBox="1"/>
          <p:nvPr/>
        </p:nvSpPr>
        <p:spPr>
          <a:xfrm>
            <a:off x="0" y="563806"/>
            <a:ext cx="877037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2"/>
                </a:solidFill>
                <a:latin typeface="Copperplate Gothic Light" panose="020E0507020206020404" pitchFamily="34" charset="0"/>
                <a:cs typeface="Aharoni" panose="02010803020104030203" pitchFamily="2" charset="-79"/>
              </a:rPr>
              <a:t>22AIE448</a:t>
            </a:r>
            <a:br>
              <a:rPr lang="en-IN" sz="2800" b="1" dirty="0">
                <a:solidFill>
                  <a:schemeClr val="accent2"/>
                </a:solidFill>
                <a:latin typeface="Copperplate Gothic Light" panose="020E0507020206020404" pitchFamily="34" charset="0"/>
                <a:cs typeface="Aharoni" panose="02010803020104030203" pitchFamily="2" charset="-79"/>
              </a:rPr>
            </a:br>
            <a:r>
              <a:rPr lang="en-IN" sz="2800" b="1" dirty="0">
                <a:solidFill>
                  <a:schemeClr val="accent2"/>
                </a:solidFill>
                <a:latin typeface="Copperplate Gothic Light" panose="020E0507020206020404" pitchFamily="34" charset="0"/>
                <a:cs typeface="Aharoni" panose="02010803020104030203" pitchFamily="2" charset="-79"/>
              </a:rPr>
              <a:t>Introduction to Drones</a:t>
            </a:r>
          </a:p>
        </p:txBody>
      </p:sp>
    </p:spTree>
    <p:extLst>
      <p:ext uri="{BB962C8B-B14F-4D97-AF65-F5344CB8AC3E}">
        <p14:creationId xmlns:p14="http://schemas.microsoft.com/office/powerpoint/2010/main" val="31822664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CD9A9-3C18-51D5-403C-A868F3D69C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08BE1F-ACDD-A084-60F2-7BE5A6C678D0}"/>
              </a:ext>
            </a:extLst>
          </p:cNvPr>
          <p:cNvSpPr txBox="1"/>
          <p:nvPr/>
        </p:nvSpPr>
        <p:spPr>
          <a:xfrm>
            <a:off x="152018" y="1833322"/>
            <a:ext cx="11877368" cy="54014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2300" dirty="0"/>
              <a:t>Quadrotor attitude dynamics are nonlinear and strongly coupled, making accurate modeling difficult. </a:t>
            </a:r>
          </a:p>
          <a:p>
            <a:pPr lvl="0"/>
            <a:endParaRPr lang="en-IN" sz="2300" dirty="0"/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2300" dirty="0"/>
              <a:t>Model-based approaches require simplifying assumptions that can reduce the accuracy of the real-system model. </a:t>
            </a:r>
          </a:p>
          <a:p>
            <a:pPr lvl="0"/>
            <a:endParaRPr lang="en-IN" sz="2300" dirty="0"/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2300" dirty="0"/>
              <a:t>Data-driven approaches require suitable training data and may result in black-box models, while ensuring system stability remains challenging. </a:t>
            </a:r>
          </a:p>
          <a:p>
            <a:pPr lvl="0"/>
            <a:endParaRPr lang="en-IN" sz="2300" dirty="0"/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2300" dirty="0"/>
              <a:t>Linear control approaches may neglect important system dynamics, while MPC can involve high online computational cost. </a:t>
            </a:r>
          </a:p>
          <a:p>
            <a:pPr lvl="0"/>
            <a:endParaRPr lang="en-IN" sz="2300" dirty="0"/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2300" dirty="0"/>
              <a:t>Therefore, an accurate, data-driven, computationally efficient, and control-oriented representation of nonlinear quadrotor attitude dynamics is required.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sz="2300" dirty="0"/>
          </a:p>
        </p:txBody>
      </p:sp>
    </p:spTree>
    <p:extLst>
      <p:ext uri="{BB962C8B-B14F-4D97-AF65-F5344CB8AC3E}">
        <p14:creationId xmlns:p14="http://schemas.microsoft.com/office/powerpoint/2010/main" val="7659182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FC00FF-2981-D7A9-140A-0B2C62863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CC92B8-D49E-40E3-534A-8E89DEDEC2B5}"/>
              </a:ext>
            </a:extLst>
          </p:cNvPr>
          <p:cNvSpPr txBox="1"/>
          <p:nvPr/>
        </p:nvSpPr>
        <p:spPr>
          <a:xfrm>
            <a:off x="314250" y="1816313"/>
            <a:ext cx="11552904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500" dirty="0"/>
              <a:t>Develop a data-driven attitude model for quadrotor UAVs using Koopman operator theory.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endParaRPr lang="en-IN" sz="2500" dirty="0"/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500" dirty="0"/>
              <a:t>Transform the nonlinear attitude dynamics into a high-dimensional linear model.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endParaRPr lang="en-IN" sz="2500" dirty="0"/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500" dirty="0"/>
              <a:t>Design an LQR controller for stable and accurate attitude tracking.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endParaRPr lang="en-IN" sz="2500" dirty="0"/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500" dirty="0"/>
              <a:t>Validate the model’s prediction capability using measured quadrotor data.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endParaRPr lang="en-IN" sz="2500" dirty="0"/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500" dirty="0"/>
              <a:t>Evaluate the control performance against a PID controller.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endParaRPr lang="en-IN" sz="2500" dirty="0"/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500" b="1" dirty="0"/>
              <a:t>Model the nonlinear attitude dynamics from data and use the resulting linear representation for effective and stable attitude control.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IN" sz="2500" dirty="0"/>
          </a:p>
        </p:txBody>
      </p:sp>
    </p:spTree>
    <p:extLst>
      <p:ext uri="{BB962C8B-B14F-4D97-AF65-F5344CB8AC3E}">
        <p14:creationId xmlns:p14="http://schemas.microsoft.com/office/powerpoint/2010/main" val="12531735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6DE0B-FEEF-3B2A-9EAA-A5C494E733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2839AEC-586B-6F97-A09D-38280B356E26}"/>
              </a:ext>
            </a:extLst>
          </p:cNvPr>
          <p:cNvSpPr txBox="1"/>
          <p:nvPr/>
        </p:nvSpPr>
        <p:spPr>
          <a:xfrm>
            <a:off x="98323" y="1881549"/>
            <a:ext cx="120936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1. Formulation of Nonlinear Quadrotor Attitude Dynamics (Newton Euler Method)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B879EBA-4BC4-3B18-D239-E6C8E4F66AF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921"/>
          <a:stretch>
            <a:fillRect/>
          </a:stretch>
        </p:blipFill>
        <p:spPr>
          <a:xfrm>
            <a:off x="1288025" y="2434106"/>
            <a:ext cx="4257369" cy="4312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31569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CFCD969-D284-31D3-E582-733EF1398E40}"/>
              </a:ext>
            </a:extLst>
          </p:cNvPr>
          <p:cNvSpPr txBox="1"/>
          <p:nvPr/>
        </p:nvSpPr>
        <p:spPr>
          <a:xfrm>
            <a:off x="117987" y="560439"/>
            <a:ext cx="10668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2. Nonlinear Attitude Dynamics and Koopman Representation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9B1E3C4-CDF2-71D1-A925-4D2207509D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493" y="943445"/>
            <a:ext cx="4706559" cy="5802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88512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26005A9F-2DEB-E933-5194-A15DF2FE7E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562" y="1245681"/>
            <a:ext cx="8657606" cy="539218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403FDEB-28FF-35A7-4A70-9547A1D8FC2A}"/>
              </a:ext>
            </a:extLst>
          </p:cNvPr>
          <p:cNvSpPr txBox="1"/>
          <p:nvPr/>
        </p:nvSpPr>
        <p:spPr>
          <a:xfrm>
            <a:off x="304799" y="639097"/>
            <a:ext cx="67547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3. Koopman Lift Map and Vectorization</a:t>
            </a:r>
          </a:p>
        </p:txBody>
      </p:sp>
    </p:spTree>
    <p:extLst>
      <p:ext uri="{BB962C8B-B14F-4D97-AF65-F5344CB8AC3E}">
        <p14:creationId xmlns:p14="http://schemas.microsoft.com/office/powerpoint/2010/main" val="27514785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6082D56-E47B-AF81-B087-E5B7C23B60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989" y="977199"/>
            <a:ext cx="5296359" cy="576884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2298FF4-9EC0-9EFF-7F56-B0BC31E44A6E}"/>
              </a:ext>
            </a:extLst>
          </p:cNvPr>
          <p:cNvSpPr txBox="1"/>
          <p:nvPr/>
        </p:nvSpPr>
        <p:spPr>
          <a:xfrm>
            <a:off x="147484" y="515534"/>
            <a:ext cx="87802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4. Finite-Dimensional Koopman Model and Data Collection</a:t>
            </a:r>
          </a:p>
        </p:txBody>
      </p:sp>
    </p:spTree>
    <p:extLst>
      <p:ext uri="{BB962C8B-B14F-4D97-AF65-F5344CB8AC3E}">
        <p14:creationId xmlns:p14="http://schemas.microsoft.com/office/powerpoint/2010/main" val="12590177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9BE366A-0276-41B5-A185-77528FE407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155" y="938911"/>
            <a:ext cx="6284277" cy="572665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674137B-1FBF-285E-20F1-F1B9812D814B}"/>
              </a:ext>
            </a:extLst>
          </p:cNvPr>
          <p:cNvSpPr txBox="1"/>
          <p:nvPr/>
        </p:nvSpPr>
        <p:spPr>
          <a:xfrm>
            <a:off x="167148" y="477246"/>
            <a:ext cx="86917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5. EDMD Data Matrices and Least-Squares Identification</a:t>
            </a:r>
          </a:p>
        </p:txBody>
      </p:sp>
    </p:spTree>
    <p:extLst>
      <p:ext uri="{BB962C8B-B14F-4D97-AF65-F5344CB8AC3E}">
        <p14:creationId xmlns:p14="http://schemas.microsoft.com/office/powerpoint/2010/main" val="13208806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CEFF858-8FDA-5400-AEFA-281A92C6EE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699" y="1217434"/>
            <a:ext cx="6911514" cy="546618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E03C916-CA02-DF4C-8CB7-CA2767D1B356}"/>
              </a:ext>
            </a:extLst>
          </p:cNvPr>
          <p:cNvSpPr txBox="1"/>
          <p:nvPr/>
        </p:nvSpPr>
        <p:spPr>
          <a:xfrm>
            <a:off x="285699" y="678426"/>
            <a:ext cx="68328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2"/>
                </a:solidFill>
              </a:rPr>
              <a:t>6. </a:t>
            </a:r>
            <a:r>
              <a:rPr lang="en-IN" sz="2400" b="1" dirty="0">
                <a:solidFill>
                  <a:schemeClr val="accent2"/>
                </a:solidFill>
              </a:rPr>
              <a:t>Koopman Matrix Estimation</a:t>
            </a:r>
          </a:p>
        </p:txBody>
      </p:sp>
    </p:spTree>
    <p:extLst>
      <p:ext uri="{BB962C8B-B14F-4D97-AF65-F5344CB8AC3E}">
        <p14:creationId xmlns:p14="http://schemas.microsoft.com/office/powerpoint/2010/main" val="28438942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8F21D58-E3A9-AA12-5A61-CD2C57981E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115" y="1295107"/>
            <a:ext cx="7427537" cy="504716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09A6723-7066-59C4-B23D-7AD4E398AFB0}"/>
              </a:ext>
            </a:extLst>
          </p:cNvPr>
          <p:cNvSpPr txBox="1"/>
          <p:nvPr/>
        </p:nvSpPr>
        <p:spPr>
          <a:xfrm>
            <a:off x="330115" y="609601"/>
            <a:ext cx="53585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7. Koopman-Based LQR Controller</a:t>
            </a:r>
          </a:p>
        </p:txBody>
      </p:sp>
    </p:spTree>
    <p:extLst>
      <p:ext uri="{BB962C8B-B14F-4D97-AF65-F5344CB8AC3E}">
        <p14:creationId xmlns:p14="http://schemas.microsoft.com/office/powerpoint/2010/main" val="30278764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54FEC04-0149-8804-6460-2FDF37DED3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477" y="1310989"/>
            <a:ext cx="9891009" cy="483908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15AF6AE-BBBC-DCD8-79A2-9B1F1E215289}"/>
              </a:ext>
            </a:extLst>
          </p:cNvPr>
          <p:cNvSpPr txBox="1"/>
          <p:nvPr/>
        </p:nvSpPr>
        <p:spPr>
          <a:xfrm>
            <a:off x="314632" y="707922"/>
            <a:ext cx="71677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8. </a:t>
            </a:r>
            <a:r>
              <a:rPr lang="en-IN" sz="2400" b="1" dirty="0" err="1">
                <a:solidFill>
                  <a:schemeClr val="accent2"/>
                </a:solidFill>
              </a:rPr>
              <a:t>Riccati</a:t>
            </a:r>
            <a:r>
              <a:rPr lang="en-IN" sz="2400" b="1" dirty="0">
                <a:solidFill>
                  <a:schemeClr val="accent2"/>
                </a:solidFill>
              </a:rPr>
              <a:t> Equation and Optimal Control Gain</a:t>
            </a:r>
          </a:p>
        </p:txBody>
      </p:sp>
    </p:spTree>
    <p:extLst>
      <p:ext uri="{BB962C8B-B14F-4D97-AF65-F5344CB8AC3E}">
        <p14:creationId xmlns:p14="http://schemas.microsoft.com/office/powerpoint/2010/main" val="11137821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E65CC-8C09-B682-55B4-CC391260B9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3CEE31F-1EB9-5238-DCC1-CDC0038AAAF6}"/>
              </a:ext>
            </a:extLst>
          </p:cNvPr>
          <p:cNvSpPr txBox="1"/>
          <p:nvPr/>
        </p:nvSpPr>
        <p:spPr>
          <a:xfrm>
            <a:off x="249065" y="6385191"/>
            <a:ext cx="60877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Attitude prediction under the </a:t>
            </a:r>
            <a:r>
              <a:rPr lang="en-IN" sz="2000" b="1" dirty="0" err="1">
                <a:solidFill>
                  <a:schemeClr val="accent2"/>
                </a:solidFill>
              </a:rPr>
              <a:t>koopman</a:t>
            </a:r>
            <a:r>
              <a:rPr lang="en-IN" sz="2000" b="1" dirty="0">
                <a:solidFill>
                  <a:schemeClr val="accent2"/>
                </a:solidFill>
              </a:rPr>
              <a:t> model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21635A-A1A3-8D1F-0A4F-E3CE4212ED15}"/>
              </a:ext>
            </a:extLst>
          </p:cNvPr>
          <p:cNvSpPr txBox="1"/>
          <p:nvPr/>
        </p:nvSpPr>
        <p:spPr>
          <a:xfrm>
            <a:off x="6564244" y="6389850"/>
            <a:ext cx="58952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accent2"/>
                </a:solidFill>
              </a:rPr>
              <a:t>Attitude velocity prediction under the </a:t>
            </a:r>
            <a:r>
              <a:rPr lang="en-IN" sz="1600" b="1" dirty="0" err="1">
                <a:solidFill>
                  <a:schemeClr val="accent2"/>
                </a:solidFill>
              </a:rPr>
              <a:t>koopman</a:t>
            </a:r>
            <a:r>
              <a:rPr lang="en-IN" sz="1600" b="1" dirty="0">
                <a:solidFill>
                  <a:schemeClr val="accent2"/>
                </a:solidFill>
              </a:rPr>
              <a:t> model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5C7C54-31EE-0E1C-EE34-7EA0DBF71F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483" y="1999271"/>
            <a:ext cx="5015461" cy="438852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0B7A60B-857A-A7A2-F124-80B93FAD33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6826" y="1884505"/>
            <a:ext cx="5277782" cy="4618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92616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A984F56-231A-033C-68CA-D87C235BDE9C}"/>
              </a:ext>
            </a:extLst>
          </p:cNvPr>
          <p:cNvSpPr txBox="1"/>
          <p:nvPr/>
        </p:nvSpPr>
        <p:spPr>
          <a:xfrm>
            <a:off x="259772" y="6206950"/>
            <a:ext cx="94661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Attitude prediction under PID controller and Koopman LQR controller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405F98-7F64-EBDA-0BC1-B0DF188D5B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931" y="651050"/>
            <a:ext cx="6035497" cy="5281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5924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6314992-4E7F-9E18-089A-AB3E43F6891D}"/>
              </a:ext>
            </a:extLst>
          </p:cNvPr>
          <p:cNvSpPr txBox="1"/>
          <p:nvPr/>
        </p:nvSpPr>
        <p:spPr>
          <a:xfrm rot="20953643">
            <a:off x="2644878" y="1995949"/>
            <a:ext cx="7541342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600" dirty="0">
                <a:solidFill>
                  <a:schemeClr val="tx2"/>
                </a:solidFill>
                <a:latin typeface="Freestyle Script" panose="030804020302050B0404" pitchFamily="66" charset="0"/>
              </a:rPr>
              <a:t>Thank you</a:t>
            </a:r>
            <a:endParaRPr lang="en-IN" sz="16600" dirty="0">
              <a:solidFill>
                <a:schemeClr val="tx2"/>
              </a:solidFill>
              <a:latin typeface="Freestyle Script" panose="030804020302050B04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5593575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65359"/>
      </a:accent1>
      <a:accent2>
        <a:srgbClr val="ED8428"/>
      </a:accent2>
      <a:accent3>
        <a:srgbClr val="E6C46D"/>
      </a:accent3>
      <a:accent4>
        <a:srgbClr val="969FA7"/>
      </a:accent4>
      <a:accent5>
        <a:srgbClr val="A9C37C"/>
      </a:accent5>
      <a:accent6>
        <a:srgbClr val="5A8071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5D8C9649-FBE1-4B5B-8258-8A170F9843A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TM03457464[[fn=Dividend]]</Template>
  <TotalTime>440</TotalTime>
  <Words>311</Words>
  <Application>Microsoft Office PowerPoint</Application>
  <PresentationFormat>Widescreen</PresentationFormat>
  <Paragraphs>45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Century Gothic</vt:lpstr>
      <vt:lpstr>Copperplate Gothic Light</vt:lpstr>
      <vt:lpstr>Freestyle Script</vt:lpstr>
      <vt:lpstr>Gill Sans MT</vt:lpstr>
      <vt:lpstr>Wingdings</vt:lpstr>
      <vt:lpstr>Wingdings 2</vt:lpstr>
      <vt:lpstr>Dividend</vt:lpstr>
      <vt:lpstr>Data-Driven Attitude Modeling and Control of Quadrotor UAV’s using Koopman Operator</vt:lpstr>
      <vt:lpstr>PROBLem statement</vt:lpstr>
      <vt:lpstr>Objectives</vt:lpstr>
      <vt:lpstr>Methodology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Results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AREPALLY CHARAN KUMAR REDDY</dc:creator>
  <cp:lastModifiedBy>AREPALLY CHARAN KUMAR REDDY</cp:lastModifiedBy>
  <cp:revision>1</cp:revision>
  <dcterms:created xsi:type="dcterms:W3CDTF">2026-08-18T11:46:30Z</dcterms:created>
  <dcterms:modified xsi:type="dcterms:W3CDTF">2026-08-19T03:12:11Z</dcterms:modified>
</cp:coreProperties>
</file>